
<file path=[Content_Types].xml><?xml version="1.0" encoding="utf-8"?>
<Types xmlns="http://schemas.openxmlformats.org/package/2006/content-types">
  <Override PartName="/_rels/.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_rels/presentation.xml.rels" ContentType="application/vnd.openxmlformats-package.relationships+xml"/>
  <Override PartName="/ppt/media/image1.jpeg" ContentType="image/jpeg"/>
  <Override PartName="/ppt/slides/_rels/slide1.xml.rels" ContentType="application/vnd.openxmlformats-package.relationships+xml"/>
  <Override PartName="/ppt/slides/slide1.xml" ContentType="application/vnd.openxmlformats-officedocument.presentationml.slide+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slideMasters/_rels/slideMaster1.xml.rels" ContentType="application/vnd.openxmlformats-package.relationships+xml"/>
  <Override PartName="/ppt/slideMasters/slideMaster1.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9144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p:spPr>
        <p:txBody>
          <a:bodyPr lIns="0" rIns="0" tIns="0" bIns="0" anchor="ctr"/>
          <a:p>
            <a:pPr algn="ctr"/>
            <a:r>
              <a:rPr b="0" lang="en-US" sz="4400" spc="-1" strike="noStrike">
                <a:latin typeface="Arial"/>
              </a:rPr>
              <a:t>Click to move the slide</a:t>
            </a:r>
            <a:endParaRPr b="0" lang="en-US" sz="4400" spc="-1" strike="noStrike">
              <a:latin typeface="Arial"/>
            </a:endParaRPr>
          </a:p>
        </p:txBody>
      </p:sp>
      <p:sp>
        <p:nvSpPr>
          <p:cNvPr id="39" name="PlaceHolder 2"/>
          <p:cNvSpPr>
            <a:spLocks noGrp="1"/>
          </p:cNvSpPr>
          <p:nvPr>
            <p:ph type="body"/>
          </p:nvPr>
        </p:nvSpPr>
        <p:spPr>
          <a:xfrm>
            <a:off x="777240" y="4777560"/>
            <a:ext cx="6217560" cy="4525920"/>
          </a:xfrm>
          <a:prstGeom prst="rect">
            <a:avLst/>
          </a:prstGeom>
        </p:spPr>
        <p:txBody>
          <a:bodyPr lIns="0" rIns="0" tIns="0" bIns="0"/>
          <a:p>
            <a:r>
              <a:rPr b="0" lang="en-US" sz="2000" spc="-1" strike="noStrike">
                <a:latin typeface="Arial"/>
              </a:rPr>
              <a:t>Click to edit the notes format</a:t>
            </a:r>
            <a:endParaRPr b="0" lang="en-US" sz="2000" spc="-1" strike="noStrike">
              <a:latin typeface="Arial"/>
            </a:endParaRPr>
          </a:p>
        </p:txBody>
      </p:sp>
      <p:sp>
        <p:nvSpPr>
          <p:cNvPr id="40" name="PlaceHolder 3"/>
          <p:cNvSpPr>
            <a:spLocks noGrp="1"/>
          </p:cNvSpPr>
          <p:nvPr>
            <p:ph type="hdr"/>
          </p:nvPr>
        </p:nvSpPr>
        <p:spPr>
          <a:xfrm>
            <a:off x="0" y="0"/>
            <a:ext cx="3372840" cy="502560"/>
          </a:xfrm>
          <a:prstGeom prst="rect">
            <a:avLst/>
          </a:prstGeom>
        </p:spPr>
        <p:txBody>
          <a:bodyPr lIns="0" rIns="0" tIns="0" bIns="0"/>
          <a:p>
            <a:r>
              <a:rPr b="0" lang="en-US" sz="1400" spc="-1" strike="noStrike">
                <a:solidFill>
                  <a:srgbClr val="303d22"/>
                </a:solidFill>
                <a:latin typeface="Arial"/>
              </a:rPr>
              <a:t>&lt;header&gt;</a:t>
            </a:r>
            <a:endParaRPr b="0" lang="en-US" sz="1400" spc="-1" strike="noStrike">
              <a:solidFill>
                <a:srgbClr val="303d22"/>
              </a:solidFill>
              <a:latin typeface="Arial"/>
            </a:endParaRPr>
          </a:p>
        </p:txBody>
      </p:sp>
      <p:sp>
        <p:nvSpPr>
          <p:cNvPr id="41" name="PlaceHolder 4"/>
          <p:cNvSpPr>
            <a:spLocks noGrp="1"/>
          </p:cNvSpPr>
          <p:nvPr>
            <p:ph type="dt"/>
          </p:nvPr>
        </p:nvSpPr>
        <p:spPr>
          <a:xfrm>
            <a:off x="4399200" y="0"/>
            <a:ext cx="3372840" cy="502560"/>
          </a:xfrm>
          <a:prstGeom prst="rect">
            <a:avLst/>
          </a:prstGeom>
        </p:spPr>
        <p:txBody>
          <a:bodyPr lIns="0" rIns="0" tIns="0" bIns="0"/>
          <a:p>
            <a:pPr algn="r"/>
            <a:r>
              <a:rPr b="0" lang="en-US" sz="1400" spc="-1" strike="noStrike">
                <a:solidFill>
                  <a:srgbClr val="303d22"/>
                </a:solidFill>
                <a:latin typeface="Arial"/>
              </a:rPr>
              <a:t>&lt;date/time&gt;</a:t>
            </a:r>
            <a:endParaRPr b="0" lang="en-US" sz="1400" spc="-1" strike="noStrike">
              <a:solidFill>
                <a:srgbClr val="303d22"/>
              </a:solidFill>
              <a:latin typeface="Arial"/>
            </a:endParaRPr>
          </a:p>
        </p:txBody>
      </p:sp>
      <p:sp>
        <p:nvSpPr>
          <p:cNvPr id="42" name="PlaceHolder 5"/>
          <p:cNvSpPr>
            <a:spLocks noGrp="1"/>
          </p:cNvSpPr>
          <p:nvPr>
            <p:ph type="ftr"/>
          </p:nvPr>
        </p:nvSpPr>
        <p:spPr>
          <a:xfrm>
            <a:off x="0" y="9555480"/>
            <a:ext cx="3372840" cy="502560"/>
          </a:xfrm>
          <a:prstGeom prst="rect">
            <a:avLst/>
          </a:prstGeom>
        </p:spPr>
        <p:txBody>
          <a:bodyPr lIns="0" rIns="0" tIns="0" bIns="0" anchor="b"/>
          <a:p>
            <a:r>
              <a:rPr b="0" lang="en-US" sz="1400" spc="-1" strike="noStrike">
                <a:solidFill>
                  <a:srgbClr val="303d22"/>
                </a:solidFill>
                <a:latin typeface="Arial"/>
              </a:rPr>
              <a:t>&lt;footer&gt;</a:t>
            </a:r>
            <a:endParaRPr b="0" lang="en-US" sz="1400" spc="-1" strike="noStrike">
              <a:solidFill>
                <a:srgbClr val="303d22"/>
              </a:solidFill>
              <a:latin typeface="Arial"/>
            </a:endParaRPr>
          </a:p>
        </p:txBody>
      </p:sp>
      <p:sp>
        <p:nvSpPr>
          <p:cNvPr id="43" name="PlaceHolder 6"/>
          <p:cNvSpPr>
            <a:spLocks noGrp="1"/>
          </p:cNvSpPr>
          <p:nvPr>
            <p:ph type="sldNum"/>
          </p:nvPr>
        </p:nvSpPr>
        <p:spPr>
          <a:xfrm>
            <a:off x="4399200" y="9555480"/>
            <a:ext cx="3372840" cy="502560"/>
          </a:xfrm>
          <a:prstGeom prst="rect">
            <a:avLst/>
          </a:prstGeom>
        </p:spPr>
        <p:txBody>
          <a:bodyPr lIns="0" rIns="0" tIns="0" bIns="0" anchor="b"/>
          <a:p>
            <a:pPr algn="r"/>
            <a:fld id="{9A84A02E-ADA0-4061-B8ED-3DA91CEBB569}" type="slidenum">
              <a:rPr b="0" lang="en-US" sz="1400" spc="-1" strike="noStrike">
                <a:solidFill>
                  <a:srgbClr val="303d22"/>
                </a:solidFill>
                <a:latin typeface="Arial"/>
              </a:rPr>
              <a:t>&lt;number&gt;</a:t>
            </a:fld>
            <a:endParaRPr b="0" lang="en-US" sz="1400" spc="-1" strike="noStrike">
              <a:solidFill>
                <a:srgbClr val="303d22"/>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sldImg"/>
          </p:nvPr>
        </p:nvSpPr>
        <p:spPr>
          <a:xfrm>
            <a:off x="1587960" y="1005840"/>
            <a:ext cx="4596480" cy="3447360"/>
          </a:xfrm>
          <a:prstGeom prst="rect">
            <a:avLst/>
          </a:prstGeom>
        </p:spPr>
      </p:sp>
      <p:sp>
        <p:nvSpPr>
          <p:cNvPr id="48" name="PlaceHolder 2"/>
          <p:cNvSpPr>
            <a:spLocks noGrp="1"/>
          </p:cNvSpPr>
          <p:nvPr>
            <p:ph type="body"/>
          </p:nvPr>
        </p:nvSpPr>
        <p:spPr>
          <a:xfrm>
            <a:off x="1185120" y="4787640"/>
            <a:ext cx="5407560" cy="6233400"/>
          </a:xfrm>
          <a:prstGeom prst="rect">
            <a:avLst/>
          </a:prstGeom>
        </p:spPr>
        <p:txBody>
          <a:bodyPr lIns="0" rIns="0" tIns="0" bIns="0"/>
          <a:p>
            <a:r>
              <a:rPr b="0" lang="en-US" sz="2000" spc="-1" strike="noStrike">
                <a:latin typeface="Arial"/>
              </a:rPr>
              <a:t>Principal coordinate analysis (PCoA) plots detailing the community composition of each microbial community and soil depth across 80 study sites, with respect to time since last disturbance and disturbance type. Axes depict the percentage of variance explained</a:t>
            </a:r>
            <a:endParaRPr b="0" lang="en-US" sz="2000" spc="-1" strike="noStrike">
              <a:latin typeface="Arial"/>
            </a:endParaRPr>
          </a:p>
          <a:p>
            <a:r>
              <a:rPr b="0" lang="en-US" sz="2000" spc="-1" strike="noStrike">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endParaRPr b="0" lang="en-US"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0" y="0"/>
            <a:ext cx="144000" cy="6858000"/>
          </a:xfrm>
          <a:prstGeom prst="rect">
            <a:avLst/>
          </a:prstGeom>
          <a:solidFill>
            <a:srgbClr val="0054a6"/>
          </a:solidFill>
          <a:ln>
            <a:noFill/>
          </a:ln>
        </p:spPr>
        <p:style>
          <a:lnRef idx="0"/>
          <a:fillRef idx="0"/>
          <a:effectRef idx="0"/>
          <a:fontRef idx="minor"/>
        </p:style>
      </p:sp>
      <p:sp>
        <p:nvSpPr>
          <p:cNvPr id="1" name="CustomShape 2"/>
          <p:cNvSpPr/>
          <p:nvPr/>
        </p:nvSpPr>
        <p:spPr>
          <a:xfrm>
            <a:off x="0" y="0"/>
            <a:ext cx="144000" cy="1198440"/>
          </a:xfrm>
          <a:prstGeom prst="rect">
            <a:avLst/>
          </a:prstGeom>
          <a:solidFill>
            <a:srgbClr val="ffce34"/>
          </a:solidFill>
          <a:ln>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TextShape 1"/>
          <p:cNvSpPr txBox="1"/>
          <p:nvPr/>
        </p:nvSpPr>
        <p:spPr>
          <a:xfrm>
            <a:off x="1260000" y="152280"/>
            <a:ext cx="7200000" cy="451800"/>
          </a:xfrm>
          <a:prstGeom prst="rect">
            <a:avLst/>
          </a:prstGeom>
          <a:noFill/>
          <a:ln>
            <a:noFill/>
          </a:ln>
        </p:spPr>
        <p:txBody>
          <a:bodyPr lIns="90000" rIns="90000" tIns="46800" bIns="46800"/>
          <a:p>
            <a:r>
              <a:rPr b="0" lang="en-US" sz="1100" spc="-1" strike="noStrike">
                <a:solidFill>
                  <a:srgbClr val="000000"/>
                </a:solidFill>
                <a:latin typeface="Arial"/>
              </a:rPr>
              <a:t>Disturbance alters the forest soil microbiome</a:t>
            </a:r>
            <a:endParaRPr b="0" lang="en-US" sz="1100" spc="-1" strike="noStrike">
              <a:solidFill>
                <a:srgbClr val="000000"/>
              </a:solidFill>
              <a:latin typeface="Arial"/>
            </a:endParaRPr>
          </a:p>
        </p:txBody>
      </p:sp>
      <p:sp>
        <p:nvSpPr>
          <p:cNvPr id="45" name="TextShape 2"/>
          <p:cNvSpPr txBox="1"/>
          <p:nvPr/>
        </p:nvSpPr>
        <p:spPr>
          <a:xfrm>
            <a:off x="360000" y="5940000"/>
            <a:ext cx="8640000" cy="451800"/>
          </a:xfrm>
          <a:prstGeom prst="rect">
            <a:avLst/>
          </a:prstGeom>
          <a:noFill/>
          <a:ln>
            <a:noFill/>
          </a:ln>
        </p:spPr>
        <p:txBody>
          <a:bodyPr lIns="90000" rIns="90000" tIns="45000" bIns="45000"/>
          <a:p>
            <a:r>
              <a:rPr b="1" lang="en-US" sz="800" spc="-1" strike="noStrike">
                <a:solidFill>
                  <a:srgbClr val="0054a6"/>
                </a:solidFill>
                <a:latin typeface="Arial"/>
              </a:rPr>
              <a:t>Molecular Ecology, Volume: 31, Issue: 2, Pages: 419-447, First published: 23 October 2021, DOI: (10.1111/mec.16242) </a:t>
            </a:r>
            <a:endParaRPr b="0" lang="en-US" sz="800" spc="-1" strike="noStrike">
              <a:solidFill>
                <a:srgbClr val="000000"/>
              </a:solidFill>
              <a:latin typeface="Arial"/>
            </a:endParaRPr>
          </a:p>
        </p:txBody>
      </p:sp>
      <p:pic>
        <p:nvPicPr>
          <p:cNvPr id="46" name="Main graphic" descr=""/>
          <p:cNvPicPr/>
          <p:nvPr/>
        </p:nvPicPr>
        <p:blipFill>
          <a:blip r:embed="rId1"/>
          <a:stretch/>
        </p:blipFill>
        <p:spPr>
          <a:xfrm>
            <a:off x="3634200" y="762120"/>
            <a:ext cx="1926720" cy="3809880"/>
          </a:xfrm>
          <a:prstGeom prst="rect">
            <a:avLst/>
          </a:prstGeom>
          <a:ln>
            <a:noFill/>
          </a:ln>
        </p:spPr>
      </p:pic>
    </p:spTree>
  </p:cSld>
  <p:transition>
    <p:wipe dir="r"/>
  </p:transition>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LibreOffice/6.0.7.3$Linux_X86_64 LibreOffice_project/dc89aa7a9eabfd848af146d5086077aeed2ae4a5</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